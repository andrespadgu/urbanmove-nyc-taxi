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¿A qué hora está tu conductor?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B4D8"/>
                </a:solidFill>
                <a:latin typeface="Calibri"/>
              </a:rPr>
              <a:t>UrbanMove · NYC Taxi Trip 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6E0"/>
                </a:solidFill>
                <a:latin typeface="Calibri"/>
              </a:rPr>
              <a:t>ML No Supervisado · Universidad de La Sabana · 2026-II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572000"/>
            <a:ext cx="2103120" cy="118872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F1C"/>
                </a:solidFill>
                <a:latin typeface="Calibri"/>
              </a:rPr>
              <a:t>1.4M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66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  <a:latin typeface="Calibri"/>
              </a:rPr>
              <a:t>viajes totales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4572000"/>
            <a:ext cx="2103120" cy="118872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4663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F1C"/>
                </a:solidFill>
                <a:latin typeface="Calibri"/>
              </a:rPr>
              <a:t>50K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166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  <a:latin typeface="Calibri"/>
              </a:rPr>
              <a:t>muestra limpia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572000"/>
            <a:ext cx="2103120" cy="118872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663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F1C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166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  <a:latin typeface="Calibri"/>
              </a:rPr>
              <a:t>roles · 4 métodos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39" y="4572000"/>
            <a:ext cx="2103120" cy="118872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39" y="4663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F1C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39" y="5166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  <a:latin typeface="Calibri"/>
              </a:rPr>
              <a:t>recomendaciones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El dataset y la metodología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920240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 PREP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50K viajes
CV=4.3%
seed=42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D6E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554480"/>
            <a:ext cx="1920240" cy="18288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ROL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94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Teoría de
Información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D6E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554480"/>
            <a:ext cx="1920240" cy="18288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ROL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194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Clustering
K-Means·DBSCAN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D6E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1554480"/>
            <a:ext cx="1920240" cy="1828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ROL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194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GMM
Algoritmo 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D6E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1554480"/>
            <a:ext cx="1920240" cy="18288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ROL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1945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Estrategia
de Negocio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57600"/>
            <a:ext cx="11430000" cy="173736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Justificación del muestreo: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alibri"/>
              </a:rPr>
              <a:t>NYC Taxi 2016 · 1.458.644 viajes · 50.000 extraídos (3.43%) · Muestreo aleatorio seed=42
Filtros: duración &gt;30s y &lt;24h · coordenadas dentro de NYC · velocidad &lt;75 km/h
Distribución mensual CV=4.3% — cobertura uniforme enero–junio · Haversine, no euclidiana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ROL 1 · INFORMACIÓN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Entropía de Shannon — ¿qué tan impredecible es la demanda?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03520" cy="9144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4D8"/>
                </a:solidFill>
                <a:latin typeface="Calibri"/>
              </a:rPr>
              <a:t>H(X) = −Σ p(x) · log₂ p(x)  [bits]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60320"/>
            <a:ext cx="5394960" cy="155448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alibri"/>
              </a:rPr>
              <a:t>H(zone_id) global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2.2693 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33 zonas activas
(máx = 5.04 bits)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560320"/>
            <a:ext cx="5394960" cy="155448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651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alibri"/>
              </a:rPr>
              <a:t>H(hour)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017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4.4639 bits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566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Dispersión horaria alta
(máx = 4.58 bits)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97679"/>
            <a:ext cx="5394960" cy="155448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891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alibri"/>
              </a:rPr>
              <a:t>H(zone|madrugada)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5487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2.1325 bits ↓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03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Franja más concentrada
→ más predecible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297679"/>
            <a:ext cx="5394960" cy="155448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3891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alibri"/>
              </a:rPr>
              <a:t>H(zone|mañana_pico)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75487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2.3438 bits ↑ MAX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5303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Commuters dispersos
→ mayor cobertura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ROL 1 · INFORMACIÓN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Información Mutua — la hora NO predice la zona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71600"/>
            <a:ext cx="5760720" cy="18288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46304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9F1C"/>
                </a:solidFill>
                <a:latin typeface="Calibri"/>
              </a:rPr>
              <a:t>I(hora ; zona) = 0.044 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574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= 1.94% de la incertidumbre total de zona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06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  <a:latin typeface="Calibri"/>
              </a:rPr>
              <a:t>La hora del día reduce en menos del 2% la sorpresa de dónde ocurrirá el próximo viaje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3566160" cy="18288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749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4336"/>
                </a:solidFill>
                <a:latin typeface="Calibri"/>
              </a:rPr>
              <a:t>✗ Hora sola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519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alibri"/>
              </a:rPr>
              <a:t>Predice 1.94% de la zona
No es suficiente para despachar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3657600"/>
            <a:ext cx="3566160" cy="18288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749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4336"/>
                </a:solidFill>
                <a:latin typeface="Calibri"/>
              </a:rPr>
              <a:t>✗ Franja (6 grupos)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2519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alibri"/>
              </a:rPr>
              <a:t>Predice 1.37% de la zona
Agrupar pierde información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657600"/>
            <a:ext cx="3566160" cy="18288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749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  <a:latin typeface="Calibri"/>
              </a:rPr>
              <a:t>✓ Hora + variables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42519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alibri"/>
              </a:rPr>
              <a:t>Día semana + eventos + clima
Necesario para predicción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ROL 1 · INFORMACIÓN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Divergencia KL — Laboral vs. Fin de Semana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0" cy="82296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KL(P‖Q) = Σ P(h) · log₂[P(h)/Q(h)]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577840" cy="82296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4475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9F1C"/>
                </a:solidFill>
                <a:latin typeface="Calibri"/>
              </a:rPr>
              <a:t>KL(laboral ‖ fds) = 0.1636 bits  →  overhead +3.71%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731520" cy="36576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Hora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2377440"/>
            <a:ext cx="1097280" cy="36576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377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P(laboral)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377440"/>
            <a:ext cx="1280160" cy="36576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P(fin semana)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377440"/>
            <a:ext cx="1737360" cy="36576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Quién domina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377440"/>
            <a:ext cx="2286000" cy="36576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Ratio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88920"/>
            <a:ext cx="73152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7889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h=07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2788920"/>
            <a:ext cx="109728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27889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0.04553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2788920"/>
            <a:ext cx="128016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2788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0.01404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2788920"/>
            <a:ext cx="173736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27889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44336"/>
                </a:solidFill>
                <a:latin typeface="Calibri"/>
              </a:rPr>
              <a:t>LABORAL ×3.2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788920"/>
            <a:ext cx="228600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0" y="2788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→ pico AM commuters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172968"/>
            <a:ext cx="731520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17296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h=08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3172968"/>
            <a:ext cx="1097280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5880" y="3172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0.05621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3172968"/>
            <a:ext cx="1280160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14600" y="31729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0.02261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3172968"/>
            <a:ext cx="1737360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31729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44336"/>
                </a:solidFill>
                <a:latin typeface="Calibri"/>
              </a:rPr>
              <a:t>LABORAL ×2.5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3172968"/>
            <a:ext cx="2286000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0" y="31729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→ mayor hora laboral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557016"/>
            <a:ext cx="73152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55701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h=01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80160" y="3557016"/>
            <a:ext cx="109728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25880" y="35570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0.01720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0" y="3557016"/>
            <a:ext cx="128016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14600" y="355701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0.05048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0" y="3557016"/>
            <a:ext cx="173736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86200" y="355701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9F1C"/>
                </a:solidFill>
                <a:latin typeface="Calibri"/>
              </a:rPr>
              <a:t>FIN SEMANA ×2.9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0" y="3557016"/>
            <a:ext cx="228600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15000" y="35570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→ vida nocturna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941064"/>
            <a:ext cx="731520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394106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h=02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80160" y="3941064"/>
            <a:ext cx="1097280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25880" y="39410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0.01007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0" y="3941064"/>
            <a:ext cx="1280160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14600" y="39410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0.04093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3941064"/>
            <a:ext cx="1737360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86200" y="39410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9F1C"/>
                </a:solidFill>
                <a:latin typeface="Calibri"/>
              </a:rPr>
              <a:t>FIN SEMANA ×4.1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0" y="3941064"/>
            <a:ext cx="2286000" cy="347472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15000" y="39410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→ máxima divergencia noche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325112"/>
            <a:ext cx="73152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432511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h=00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80160" y="4325112"/>
            <a:ext cx="109728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25880" y="4325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0.03026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68880" y="4325112"/>
            <a:ext cx="128016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14600" y="432511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0.05532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80" y="4325112"/>
            <a:ext cx="173736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86200" y="43251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9F1C"/>
                </a:solidFill>
                <a:latin typeface="Calibri"/>
              </a:rPr>
              <a:t>FIN SEMANA ×1.8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4325112"/>
            <a:ext cx="2286000" cy="347472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15000" y="43251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→ medianoche fds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754880"/>
            <a:ext cx="11430000" cy="13716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4828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1C"/>
                </a:solidFill>
                <a:latin typeface="Calibri"/>
              </a:rPr>
              <a:t>→ CONCLUSIÓN OPERATIVA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5193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Dos distribuciones incompatibles: mismo modelo genera overhead +3.71% por decisión.
Laboral: pico 07-09h matutino pronunciado.  Fin de semana: actividad nocturna sostenida hasta 03h.
UrbanMove necesita DOS POLÍTICAS DE DESPACHO distintas.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ROL 1 · INFORMACIÓN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log-sum-exp y Entropía Cruzada — puente hacia el GMM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77840" cy="32004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  <a:latin typeface="Calibri"/>
              </a:rPr>
              <a:t>log-sum-exp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lse(x) = c + log Σ exp(xᵢ − c),  c = max(x)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Suma naïve  x=[-1000,-1001,-1002]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60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  <a:latin typeface="Calibri"/>
              </a:rPr>
              <a:t>→ exp(-1000) = 0 → log(0) = -∞  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log-sum-exp  x=[-1000,-1001,-1002]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358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AF50"/>
                </a:solidFill>
                <a:latin typeface="Calibri"/>
              </a:rPr>
              <a:t>→ -999.5924  (error vs exacto: 0.00) 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112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Zonas procesadas: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51129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33  ·  error máx |lse-naive|: &lt; 2×10⁻¹⁵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86783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En el E-step del GMM: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986783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densidades llegan a exp(-1000) → sin este truco → NaN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5577840" cy="32004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  <a:latin typeface="Calibri"/>
              </a:rPr>
              <a:t>Entropía Cruzada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  <a:latin typeface="Calibri"/>
              </a:rPr>
              <a:t>H(P,Q) = −Σ P(h)·log₂Q(h)  =  H(P) + KL(P‖Q)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60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H(laboral)  — costo propio óptimo: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560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  <a:latin typeface="Calibri"/>
              </a:rPr>
              <a:t>4.4124 bits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358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KL(lab ‖ fds)  — costo por modelo erróneo: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03580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  <a:latin typeface="Calibri"/>
              </a:rPr>
              <a:t>+0.1636 bits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1129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H(laboral, fds)  — costo total: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511296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  <a:latin typeface="Calibri"/>
              </a:rPr>
              <a:t>4.5760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86783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Overhead al usar modelo fds→laboral: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986783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  <a:latin typeface="Calibri"/>
              </a:rPr>
              <a:t>+3.71 %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622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Verificación H(P)+KL = H(P,Q):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4622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AF50"/>
                </a:solidFill>
                <a:latin typeface="Calibri"/>
              </a:rPr>
              <a:t>error &lt; 1×10⁻¹⁵ 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37760"/>
            <a:ext cx="11430000" cy="12801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010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AF50"/>
                </a:solidFill>
                <a:latin typeface="Calibri"/>
              </a:rPr>
              <a:t>Síntesis Rol 1: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5010912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H(zone)=2.27 bits · I(hora;zona)=0.044 bits (1.94%) · KL(lab‖fds)=0.164 bits (+3.71%)
Madrugada = franja MÁS predecible (2.13 bits) · Mañana pico = MÁS dispersa (2.34 bits)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ROL 2 ·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K-Means — Justificación de K=4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457200" cy="365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K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463040"/>
            <a:ext cx="1188720" cy="365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463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Inercia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1463040"/>
            <a:ext cx="1645920" cy="365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31136" y="1463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Reducción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1463040"/>
            <a:ext cx="1371600" cy="365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Silhouette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463040"/>
            <a:ext cx="2743200" cy="365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6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¿Elegido?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74520"/>
            <a:ext cx="4572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187452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1874520"/>
            <a:ext cx="118872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187452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148,327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1874520"/>
            <a:ext cx="164592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31136" y="18745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1874520"/>
            <a:ext cx="13716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68496" y="18745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0.6844*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1874520"/>
            <a:ext cx="27432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1536" y="18745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44336"/>
                </a:solidFill>
                <a:latin typeface="Calibri"/>
              </a:rPr>
              <a:t>No (demasiado grueso)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286000"/>
            <a:ext cx="4572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" y="228600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2286000"/>
            <a:ext cx="118872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22860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113,501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286000"/>
            <a:ext cx="164592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31136" y="22860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23.5%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2286000"/>
            <a:ext cx="13716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68496" y="2286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0.2664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60" y="2286000"/>
            <a:ext cx="27432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31536" y="22860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44336"/>
                </a:solidFill>
                <a:latin typeface="Calibri"/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697480"/>
            <a:ext cx="457200" cy="384048"/>
          </a:xfrm>
          <a:prstGeom prst="rect">
            <a:avLst/>
          </a:prstGeom>
          <a:solidFill>
            <a:srgbClr val="123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" y="26974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CAF50"/>
                </a:solidFill>
                <a:latin typeface="Calibri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2697480"/>
            <a:ext cx="1188720" cy="384048"/>
          </a:xfrm>
          <a:prstGeom prst="rect">
            <a:avLst/>
          </a:prstGeom>
          <a:solidFill>
            <a:srgbClr val="123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26974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CAF50"/>
                </a:solidFill>
                <a:latin typeface="Calibri"/>
              </a:rPr>
              <a:t>91,866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2697480"/>
            <a:ext cx="1645920" cy="384048"/>
          </a:xfrm>
          <a:prstGeom prst="rect">
            <a:avLst/>
          </a:prstGeom>
          <a:solidFill>
            <a:srgbClr val="123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31136" y="26974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CAF50"/>
                </a:solidFill>
                <a:latin typeface="Calibri"/>
              </a:rPr>
              <a:t>19.1% ← codo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2697480"/>
            <a:ext cx="1371600" cy="384048"/>
          </a:xfrm>
          <a:prstGeom prst="rect">
            <a:avLst/>
          </a:prstGeom>
          <a:solidFill>
            <a:srgbClr val="123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68496" y="26974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CAF50"/>
                </a:solidFill>
                <a:latin typeface="Calibri"/>
              </a:rPr>
              <a:t>0.2916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94960" y="2697480"/>
            <a:ext cx="2743200" cy="384048"/>
          </a:xfrm>
          <a:prstGeom prst="rect">
            <a:avLst/>
          </a:prstGeom>
          <a:solidFill>
            <a:srgbClr val="123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31536" y="26974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CAF50"/>
                </a:solidFill>
                <a:latin typeface="Calibri"/>
              </a:rPr>
              <a:t>SÍ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108960"/>
            <a:ext cx="4572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" y="31089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3108960"/>
            <a:ext cx="118872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310896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76,213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94560" y="3108960"/>
            <a:ext cx="164592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31136" y="3108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17.0%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31920" y="3108960"/>
            <a:ext cx="13716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68496" y="31089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0.2683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94960" y="3108960"/>
            <a:ext cx="27432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31536" y="31089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44336"/>
                </a:solidFill>
                <a:latin typeface="Calibri"/>
              </a:rPr>
              <a:t>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520440"/>
            <a:ext cx="4572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2336" y="35204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" y="3520440"/>
            <a:ext cx="118872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976" y="352044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67,166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94560" y="3520440"/>
            <a:ext cx="164592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31136" y="35204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11.9%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31920" y="3520440"/>
            <a:ext cx="13716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68496" y="35204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0.2826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94960" y="3520440"/>
            <a:ext cx="27432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31536" y="3520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44336"/>
                </a:solidFill>
                <a:latin typeface="Calibri"/>
              </a:rPr>
              <a:t>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1463040"/>
            <a:ext cx="3566160" cy="155448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392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  <a:latin typeface="Calibri"/>
              </a:rPr>
              <a:t>* K=2: silhouette = 0.684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20" y="19659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Matemáticamente el mejor, pero
solo separa viajes de día vs noche.
No produce segmentos operativos.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21040" y="3108960"/>
            <a:ext cx="3566160" cy="914400"/>
          </a:xfrm>
          <a:prstGeom prst="rect">
            <a:avLst/>
          </a:prstGeom>
          <a:solidFill>
            <a:srgbClr val="123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0392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AF50"/>
                </a:solidFill>
                <a:latin typeface="Calibri"/>
              </a:rPr>
              <a:t>K=4 elegido: codo en 19.1% + 4 perfiles operativos distintos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4389120"/>
            <a:ext cx="7772400" cy="210312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1C"/>
                </a:solidFill>
                <a:latin typeface="Calibri"/>
              </a:rPr>
              <a:t>Features K-Means (4 variables):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4892040"/>
            <a:ext cx="7406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pickup_longitude  ·  pickup_latitude  ·  hour  ·  duration_min
→ capturan geografía de pickup + momento del día + duración del viaje
→ StandardScaler antes de fitear (evita sesgo por magnitudes distintas)
→ 50.000 puntos · seed=42 · n_init=10 · 8 iteraciones hasta convergencia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ROL 2 ·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K-Means K=4 — Los 4 perfiles de demanda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743200" cy="50292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7432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</a:rPr>
              <a:t>C0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</a:rPr>
              <a:t>Commuter
Mañana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4D8"/>
                </a:solidFill>
                <a:latin typeface="Calibri"/>
              </a:rPr>
              <a:t>36.3%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  <a:latin typeface="Calibri"/>
              </a:rPr>
              <a:t>18,154 viajes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Hora media: 6.9h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10.6 min · 2.64 km · 15.0 km/h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Zona: 33 · lat=40.752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371600"/>
            <a:ext cx="2743200" cy="50292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371600"/>
            <a:ext cx="2743200" cy="4114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3898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</a:rPr>
              <a:t>C1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59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</a:rPr>
              <a:t>Aeropuerto /
Periferia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9F1C"/>
                </a:solidFill>
                <a:latin typeface="Calibri"/>
              </a:rPr>
              <a:t>2.2%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  <a:latin typeface="Calibri"/>
              </a:rPr>
              <a:t>1,102 viajes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Hora media: 14.1h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41.5 min · 17.95 km · 28.2 km/h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Zona: 31 · lat=40.646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2743200" cy="50292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371600"/>
            <a:ext cx="2743200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13898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</a:rPr>
              <a:t>C2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</a:rPr>
              <a:t>Viaje
Diurno Largo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CAF50"/>
                </a:solidFill>
                <a:latin typeface="Calibri"/>
              </a:rPr>
              <a:t>12.8%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  <a:latin typeface="Calibri"/>
              </a:rPr>
              <a:t>6,381 viajes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Hora media: 14.4h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31.4 min · 7.46 km · 14.5 km/h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Zona: 42 · lat=40.762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1371600"/>
            <a:ext cx="2743200" cy="50292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20" y="1371600"/>
            <a:ext cx="2743200" cy="4114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13898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</a:rPr>
              <a:t>C3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</a:rPr>
              <a:t>Tarde/Noche
Central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44336"/>
                </a:solidFill>
                <a:latin typeface="Calibri"/>
              </a:rPr>
              <a:t>48.7%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  <a:latin typeface="Calibri"/>
              </a:rPr>
              <a:t>24,363 viajes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Hora media: 18.3h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10.6 min · 2.29 km · 13.4 km/h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Zona: 33 · lat=40.752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6446520"/>
            <a:ext cx="11612880" cy="347472"/>
          </a:xfrm>
          <a:prstGeom prst="rect">
            <a:avLst/>
          </a:prstGeom>
          <a:solidFill>
            <a:srgbClr val="0D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CAF50"/>
                </a:solidFill>
                <a:latin typeface="Calibri"/>
              </a:rPr>
              <a:t>C0 + C3 = 85% del volumen (viajes cortos &lt;11 min / &lt;2.7 km en Manhattan central)  ·  C1 = tarifa 3–4× mayor  ·  Silhouette K=4 = 0.2916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ROL 2 ·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DBSCAN — Hotspots y Zonas de Ruido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03520" cy="100584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F1C"/>
                </a:solidFill>
                <a:latin typeface="Calibri"/>
              </a:rPr>
              <a:t>Parámetros elegidos: ε = 0.10 · min_samples =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ε=0.10 = codo de gráfica k-distancia (k=5, p95 de distribución)
20.000 puntos subsample · Features: pickup_lon, pickup_lat (StandardScaler)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371600"/>
            <a:ext cx="1920240" cy="100584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417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9F1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Clusters encontrados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371600"/>
            <a:ext cx="1920240" cy="100584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417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0.0971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Silhouette (sin ruido)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1371600"/>
            <a:ext cx="1920240" cy="100584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1417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44336"/>
                </a:solidFill>
                <a:latin typeface="Calibri"/>
              </a:rPr>
              <a:t>247  (1.23%)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Puntos de RUIDO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60320"/>
            <a:ext cx="11430000" cy="219456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33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4336"/>
                </a:solidFill>
                <a:latin typeface="Calibri"/>
              </a:rPr>
              <a:t>Perfil de los 247 viajes de RUIDO vs viajes normales: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63240"/>
            <a:ext cx="2560320" cy="320040"/>
          </a:xfrm>
          <a:prstGeom prst="rect">
            <a:avLst/>
          </a:prstGeom>
          <a:solidFill>
            <a:srgbClr val="AA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63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Métrica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3063240"/>
            <a:ext cx="2103120" cy="320040"/>
          </a:xfrm>
          <a:prstGeom prst="rect">
            <a:avLst/>
          </a:prstGeom>
          <a:solidFill>
            <a:srgbClr val="AA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3063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Ruido (n=247)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3063240"/>
            <a:ext cx="2468880" cy="320040"/>
          </a:xfrm>
          <a:prstGeom prst="rect">
            <a:avLst/>
          </a:prstGeom>
          <a:solidFill>
            <a:srgbClr val="AA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3063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Normales (n≈19,753)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063240"/>
            <a:ext cx="2468880" cy="320040"/>
          </a:xfrm>
          <a:prstGeom prst="rect">
            <a:avLst/>
          </a:prstGeom>
          <a:solidFill>
            <a:srgbClr val="AA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3063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Diferencia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410712"/>
            <a:ext cx="2560320" cy="29260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4107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Hora media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410712"/>
            <a:ext cx="2103120" cy="29260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34107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10.50h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3410712"/>
            <a:ext cx="2468880" cy="29260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34107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13.56h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3410712"/>
            <a:ext cx="2468880" cy="29260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4107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Más temprano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730752"/>
            <a:ext cx="2560320" cy="29260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7307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Duración media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3730752"/>
            <a:ext cx="2103120" cy="29260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37307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15.60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3730752"/>
            <a:ext cx="2468880" cy="29260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0" y="373075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12.85 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3730752"/>
            <a:ext cx="2468880" cy="29260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373075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+21% más largo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050791"/>
            <a:ext cx="2560320" cy="29260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050791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Distancia media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60" y="4050791"/>
            <a:ext cx="2103120" cy="29260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0" y="4050791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4.89 km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0" y="4050791"/>
            <a:ext cx="2468880" cy="29260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0" y="405079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3.19 km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4050791"/>
            <a:ext cx="2468880" cy="29260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405079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+53% más lejos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370831"/>
            <a:ext cx="2560320" cy="29260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370831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Velocidad media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4370831"/>
            <a:ext cx="2103120" cy="29260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4370831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18.3 km/h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03520" y="4370831"/>
            <a:ext cx="2468880" cy="29260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0" y="437083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14.3 km/h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4370831"/>
            <a:ext cx="2468880" cy="29260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63840" y="437083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+28% más rápido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690872"/>
            <a:ext cx="2560320" cy="29260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6908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% fin de semana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08960" y="4690872"/>
            <a:ext cx="2103120" cy="29260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08960" y="46908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35.6%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03520" y="4690872"/>
            <a:ext cx="2468880" cy="29260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0" y="469087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28.3%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63840" y="4690872"/>
            <a:ext cx="2468880" cy="29260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63840" y="469087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+7.3pp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010912"/>
            <a:ext cx="2560320" cy="29260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5010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Franja dominante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08960" y="5010912"/>
            <a:ext cx="2103120" cy="29260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08960" y="50109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Madrugada (35%)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03520" y="5010912"/>
            <a:ext cx="2468880" cy="29260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03520" y="50109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Tarde pico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63840" y="5010912"/>
            <a:ext cx="2468880" cy="29260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63840" y="50109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D6E0"/>
                </a:solidFill>
                <a:latin typeface="Calibri"/>
              </a:rPr>
              <a:t>Periférico nocturno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5029200"/>
            <a:ext cx="11430000" cy="1005840"/>
          </a:xfrm>
          <a:prstGeom prst="rect">
            <a:avLst/>
          </a:prstGeom>
          <a:solidFill>
            <a:srgbClr val="2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5102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  <a:latin typeface="Calibri"/>
              </a:rPr>
              <a:t>→ Política operativa DBSCAN: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40480" y="5102352"/>
            <a:ext cx="77724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NO asignar conductores a zonas de ruido por defecto · Activar solo bajo demanda explícita
Tarifa premium +25% para los 247 viajes periféricos (cubre overhead de reposicionamiento)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ROL 2 ·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K-Means vs DBSCAN — Comparativa y recomendación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347472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286000" cy="365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Criterio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417320"/>
            <a:ext cx="2560320" cy="365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K-Means (K=4)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417320"/>
            <a:ext cx="2560320" cy="365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DBSCAN (ε=0.10)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3840480" cy="365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417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Ganador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801368"/>
            <a:ext cx="22860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0136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Silhouette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1801368"/>
            <a:ext cx="256032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180136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0.2916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1801368"/>
            <a:ext cx="256032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180136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0.0971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801368"/>
            <a:ext cx="384048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1801368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CAF50"/>
                </a:solidFill>
                <a:latin typeface="Calibri"/>
              </a:rPr>
              <a:t>K-Means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231136"/>
            <a:ext cx="2286000" cy="40233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231136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Nº clusters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2231136"/>
            <a:ext cx="2560320" cy="40233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223113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4 (especificado)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231136"/>
            <a:ext cx="2560320" cy="40233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223113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23 (automático)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231136"/>
            <a:ext cx="3840480" cy="40233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2231136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CAF50"/>
                </a:solidFill>
                <a:latin typeface="Calibri"/>
              </a:rPr>
              <a:t>DBSCAN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660904"/>
            <a:ext cx="22860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660904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% asignado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2660904"/>
            <a:ext cx="256032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266090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2660904"/>
            <a:ext cx="256032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2120" y="266090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98.77%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2660904"/>
            <a:ext cx="384048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266090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CAF50"/>
                </a:solidFill>
                <a:latin typeface="Calibri"/>
              </a:rPr>
              <a:t>K-Means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090672"/>
            <a:ext cx="2286000" cy="40233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09067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Detecta ruido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3090672"/>
            <a:ext cx="2560320" cy="40233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80360" y="309067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No (forzado)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3090672"/>
            <a:ext cx="2560320" cy="40233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32120" y="309067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Sí: 247 viajes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090672"/>
            <a:ext cx="3840480" cy="40233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80" y="3090672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CAF50"/>
                </a:solidFill>
                <a:latin typeface="Calibri"/>
              </a:rPr>
              <a:t>DBSCAN 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520439"/>
            <a:ext cx="22860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520439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Muestra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3520439"/>
            <a:ext cx="256032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80360" y="3520439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50,000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3520439"/>
            <a:ext cx="256032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32120" y="3520439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20,000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60" y="3520439"/>
            <a:ext cx="384048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83880" y="3520439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K-Means (mayor)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950207"/>
            <a:ext cx="2286000" cy="40233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3950207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Uso operativo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640" y="3950207"/>
            <a:ext cx="2560320" cy="40233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80360" y="3950207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Planif. de turnos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3950207"/>
            <a:ext cx="2560320" cy="40233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32120" y="3950207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Gestión de riesgo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38160" y="3950207"/>
            <a:ext cx="3840480" cy="402336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83880" y="3950207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Complementarios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029200"/>
            <a:ext cx="11430000" cy="1371600"/>
          </a:xfrm>
          <a:prstGeom prst="rect">
            <a:avLst/>
          </a:prstGeom>
          <a:solidFill>
            <a:srgbClr val="123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102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AF50"/>
                </a:solidFill>
                <a:latin typeface="Calibri"/>
              </a:rPr>
              <a:t>Síntesis Rol 2: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6080" y="5102352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K=4 con Silhouette=0.2916 · C3 Tarde/Noche = 48.7% del volumen (foco posicionamiento 17h-22h)
C1 Aeropuerto = 2.2% con 17.95 km/41.5 min (tarifa diferenciada) · DBSCAN: 247 zonas de ruido (1.23%)
Las 3 zonas principales (33, 42, 41) cubren el 88.2% de la demanda 17-22h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ROL 3 · GMM / 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GMM — Selección de K con criterio BIC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0" cy="73152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Calibri"/>
              </a:rPr>
              <a:t>p(x) = Σ πₖ · N(x | μₖ, Σₖ)  —  K=4, covariance_type='full'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9144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86000"/>
            <a:ext cx="164592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2860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BIC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286000"/>
            <a:ext cx="22860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286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|ΔBIC|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2286000"/>
            <a:ext cx="13716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2860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Elegido?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9144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51760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K=2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2651760"/>
            <a:ext cx="164592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265176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195,449.6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651760"/>
            <a:ext cx="22860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65176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651760"/>
            <a:ext cx="13716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265176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081528"/>
            <a:ext cx="9144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08152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K=3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081528"/>
            <a:ext cx="164592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308152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145,187.6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3081528"/>
            <a:ext cx="22860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308152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−50,262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081528"/>
            <a:ext cx="13716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308152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511296"/>
            <a:ext cx="914400" cy="402336"/>
          </a:xfrm>
          <a:prstGeom prst="rect">
            <a:avLst/>
          </a:prstGeom>
          <a:solidFill>
            <a:srgbClr val="123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51129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CAF50"/>
                </a:solidFill>
                <a:latin typeface="Calibri"/>
              </a:rPr>
              <a:t>K=4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3511296"/>
            <a:ext cx="1645920" cy="402336"/>
          </a:xfrm>
          <a:prstGeom prst="rect">
            <a:avLst/>
          </a:prstGeom>
          <a:solidFill>
            <a:srgbClr val="123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3511296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CAF50"/>
                </a:solidFill>
                <a:latin typeface="Calibri"/>
              </a:rPr>
              <a:t>116,936.9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3511296"/>
            <a:ext cx="2286000" cy="402336"/>
          </a:xfrm>
          <a:prstGeom prst="rect">
            <a:avLst/>
          </a:prstGeom>
          <a:solidFill>
            <a:srgbClr val="123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3511296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CAF50"/>
                </a:solidFill>
                <a:latin typeface="Calibri"/>
              </a:rPr>
              <a:t>−28,251  ← codo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3511296"/>
            <a:ext cx="1371600" cy="402336"/>
          </a:xfrm>
          <a:prstGeom prst="rect">
            <a:avLst/>
          </a:prstGeom>
          <a:solidFill>
            <a:srgbClr val="123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0" y="351129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CAF50"/>
                </a:solidFill>
                <a:latin typeface="Calibri"/>
              </a:rPr>
              <a:t>SÍ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941063"/>
            <a:ext cx="9144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941063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K=5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3941063"/>
            <a:ext cx="164592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3941063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98,928.7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08960" y="3941063"/>
            <a:ext cx="22860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0" y="3941063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−18,008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3941063"/>
            <a:ext cx="13716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0" y="3941063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370831"/>
            <a:ext cx="9144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4370831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K=6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0" y="4370831"/>
            <a:ext cx="164592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1600" y="4370831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75,153.1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08960" y="4370831"/>
            <a:ext cx="22860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60" y="4370831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−23,775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4370831"/>
            <a:ext cx="1371600" cy="402336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0" y="4370831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0"/>
                </a:solidFill>
                <a:latin typeface="Calibri"/>
              </a:rPr>
              <a:t>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2320" y="1371600"/>
            <a:ext cx="4663440" cy="36576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0" y="14630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AF50"/>
                </a:solidFill>
                <a:latin typeface="Calibri"/>
              </a:rPr>
              <a:t>¿Por qué K=4 y no K=2 o K=6?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196596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BIC K=2→4: caída de 78,513 pts (41%)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0" y="2249424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BIC K=4→5: solo −18,008 pts (−36% menos)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253288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A partir de K=4 el retorno marginal cae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281635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K=4 alinea con 4 perfiles reales NYC: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3099815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  · Micro-urbano rápido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338328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  · Corto en tráfico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0" y="3666744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  · Commuter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395020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  · Aeropuerto/largo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423367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GMM convergió en 26 iters (True)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0" y="451713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Log-likelihood final: −58,257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ROL 3 · GMM / 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GMM K=4 — Los 4 perfiles latentes de viaje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743200" cy="50292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7432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</a:rPr>
              <a:t>C0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</a:rPr>
              <a:t>Micro-urbano
Rápido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Calibri"/>
              </a:rPr>
              <a:t>π = 27.1%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Duración: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514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5.66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108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Distancia: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108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1.57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703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Velocidad: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03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16.34 km/h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80"/>
            <a:ext cx="2560320" cy="914400"/>
          </a:xfrm>
          <a:prstGeom prst="rect">
            <a:avLst/>
          </a:prstGeom>
          <a:solidFill>
            <a:srgbClr val="1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343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AF50"/>
                </a:solidFill>
                <a:latin typeface="Calibri"/>
              </a:rPr>
              <a:t>Downtown express
Alta rotación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371600"/>
            <a:ext cx="2743200" cy="50292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371600"/>
            <a:ext cx="2743200" cy="4114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13898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</a:rPr>
              <a:t>C2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59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</a:rPr>
              <a:t>Tráfico
Lento-Corto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9F1C"/>
                </a:solidFill>
                <a:latin typeface="Calibri"/>
              </a:rPr>
              <a:t>π = 29.9%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79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Duración: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514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9.70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79" y="3108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Distancia: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108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1.55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79" y="3703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Velocidad: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703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9.62 km/h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4297680"/>
            <a:ext cx="2560320" cy="914400"/>
          </a:xfrm>
          <a:prstGeom prst="rect">
            <a:avLst/>
          </a:prstGeom>
          <a:solidFill>
            <a:srgbClr val="1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79" y="4343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AF50"/>
                </a:solidFill>
                <a:latin typeface="Calibri"/>
              </a:rPr>
              <a:t>Misma dist que C0
doble tiempo (congest.)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371600"/>
            <a:ext cx="2743200" cy="50292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371600"/>
            <a:ext cx="2743200" cy="41148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13898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</a:rPr>
              <a:t>C3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59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</a:rPr>
              <a:t>Commuter
Medio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C27B0"/>
                </a:solidFill>
                <a:latin typeface="Calibri"/>
              </a:rPr>
              <a:t>π = 25.3%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Duración: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514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18.43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108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Distancia: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08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3.71 km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3703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Velocidad: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703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12.32 km/h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59" y="4297680"/>
            <a:ext cx="2560320" cy="914400"/>
          </a:xfrm>
          <a:prstGeom prst="rect">
            <a:avLst/>
          </a:prstGeom>
          <a:solidFill>
            <a:srgbClr val="1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343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AF50"/>
                </a:solidFill>
                <a:latin typeface="Calibri"/>
              </a:rPr>
              <a:t>Corredores
residenciales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89720" y="1371600"/>
            <a:ext cx="2743200" cy="50292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89720" y="1371600"/>
            <a:ext cx="2743200" cy="4114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1160" y="13898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</a:rPr>
              <a:t>C1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</a:rPr>
              <a:t>Largo Alta
Velocidad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44336"/>
                </a:solidFill>
                <a:latin typeface="Calibri"/>
              </a:rPr>
              <a:t>π = 17.7%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Duración: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2514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27.80 min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3108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Distancia: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3108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9.13 km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3703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Velocidad: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3703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22.75 km/h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81160" y="4297680"/>
            <a:ext cx="2560320" cy="914400"/>
          </a:xfrm>
          <a:prstGeom prst="rect">
            <a:avLst/>
          </a:prstGeom>
          <a:solidFill>
            <a:srgbClr val="1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0" y="4343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AF50"/>
                </a:solidFill>
                <a:latin typeface="Calibri"/>
              </a:rPr>
              <a:t>Aeropuerto /
outer-boroughs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6446520"/>
            <a:ext cx="11612880" cy="347472"/>
          </a:xfrm>
          <a:prstGeom prst="rect">
            <a:avLst/>
          </a:prstGeom>
          <a:solidFill>
            <a:srgbClr val="0D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CAF50"/>
                </a:solidFill>
                <a:latin typeface="Calibri"/>
              </a:rPr>
              <a:t>Micro-urbano + Lento-Corto = 57% del volumen (viajes &lt;2 km)  ·  Largo Alta Velocidad = tarifa diferenciada  ·  Certeza media GMM: 92.1%  ·  Ambiguos: 23.4%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ROL 3 · GMM / 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Algoritmo EM Manual — E-step, M-step, Convergencia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03520" cy="219456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E-step — Calcular responsabilidades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rᵢₖ = πₖ · N(xᵢ|μₖ,Σₖ) / Σⱼ πⱼ · N(xᵢ|μⱼ,Σⱼ)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rᵢₖ = probabilidad de que el viaje i
pertenezca al perfil k
→ log-sum-exp en el denominador
  (evita underflow float64)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71600"/>
            <a:ext cx="5760720" cy="219456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44475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F1C"/>
                </a:solidFill>
                <a:latin typeface="Calibri"/>
              </a:rPr>
              <a:t>M-step — Actualizar parámetros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  <a:latin typeface="Calibri"/>
              </a:rPr>
              <a:t>Nₖ = Σᵢ rᵢₖ        πₖ = Nₖ/N
μₖ = Σᵢ rᵢₖ·xᵢ / Nₖ
Σₖ = Σᵢ rᵢₖ·(xᵢ−μₖ)(xᵢ−μₖ)ᵀ / Nₖ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33472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Ponderadores = responsabilidades rᵢₖ
→ viajes ambiguos contribuyen
  proporcionalmente a varios perfiles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114300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4572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749039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Calibri"/>
              </a:rPr>
              <a:t>Iter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749039"/>
            <a:ext cx="201168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Calibri"/>
              </a:rPr>
              <a:t>Log-Likelihood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749039"/>
            <a:ext cx="164592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374903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Calibri"/>
              </a:rPr>
              <a:t>ΔLLL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749039"/>
            <a:ext cx="128016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74903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Calibri"/>
              </a:rPr>
              <a:t>Peso C0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749039"/>
            <a:ext cx="128016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74903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Calibri"/>
              </a:rPr>
              <a:t>Peso C1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3749039"/>
            <a:ext cx="128016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374903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Calibri"/>
              </a:rPr>
              <a:t>Peso C2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3749039"/>
            <a:ext cx="128016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374903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  <a:latin typeface="Calibri"/>
              </a:rPr>
              <a:t>Peso C3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114800"/>
            <a:ext cx="4572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11480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114800"/>
            <a:ext cx="201168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1148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−15,760.6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4114800"/>
            <a:ext cx="164592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0" y="41148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4114800"/>
            <a:ext cx="128016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41148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0.2143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4114800"/>
            <a:ext cx="128016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1148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0.5822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114800"/>
            <a:ext cx="128016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41148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0.1567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4114800"/>
            <a:ext cx="128016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41148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0.0468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526280"/>
            <a:ext cx="457200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5262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4526280"/>
            <a:ext cx="2011680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5262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−14,695.8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4526280"/>
            <a:ext cx="1645920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45262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+1,064.8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4526280"/>
            <a:ext cx="1280160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45262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0.2128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4526280"/>
            <a:ext cx="1280160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45262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0.5686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79" y="4526280"/>
            <a:ext cx="1280160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79" y="45262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0.1671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69680" y="4526280"/>
            <a:ext cx="1280160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0" y="45262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0.0515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937760"/>
            <a:ext cx="45720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49377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4937760"/>
            <a:ext cx="201168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4937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−13,239.5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20" y="4937760"/>
            <a:ext cx="164592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17520" y="49377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+253.4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54880" y="4937760"/>
            <a:ext cx="128016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54880" y="49377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0.2123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0" y="4937760"/>
            <a:ext cx="128016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0" y="49377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0.4988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98079" y="4937760"/>
            <a:ext cx="128016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79" y="49377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0.2069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69680" y="4937760"/>
            <a:ext cx="1280160" cy="384048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69680" y="49377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0.0820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5349240"/>
            <a:ext cx="457200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53492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5349240"/>
            <a:ext cx="2011680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" y="53492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−12,403.2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5349240"/>
            <a:ext cx="1645920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17520" y="53492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+143.7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54880" y="5349240"/>
            <a:ext cx="1280160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54880" y="53492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0.2262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26480" y="5349240"/>
            <a:ext cx="1280160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26480" y="53492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0.4291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98079" y="5349240"/>
            <a:ext cx="1280160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8079" y="53492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0.2295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69680" y="5349240"/>
            <a:ext cx="1280160" cy="3840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69680" y="53492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CD6E0"/>
                </a:solidFill>
                <a:latin typeface="Calibri"/>
              </a:rPr>
              <a:t>0.1152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5852160"/>
            <a:ext cx="11430000" cy="685800"/>
          </a:xfrm>
          <a:prstGeom prst="rect">
            <a:avLst/>
          </a:prstGeom>
          <a:solidFill>
            <a:srgbClr val="123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8640" y="592531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AF50"/>
                </a:solidFill>
                <a:latin typeface="Calibri"/>
              </a:rPr>
              <a:t>Ganancia total en 10 iteraciones: +3,357 puntos LL  ·  Propiedad garantizada del EM: L(θ⁽ᵗ⁺¹⁾) ≥ L(θ⁽ᵗ⁾) siempre  ·  No es suerte: es convergencia monótona garantizada matemáticamente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ROL 3 · GMM / 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Inicialización — K-means++ vs. Aleatoria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577840" cy="256032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577840" cy="3840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</a:rPr>
              <a:t>K-MEANS++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Log-Likelihood final: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AF50"/>
                </a:solidFill>
                <a:latin typeface="Calibri"/>
              </a:rPr>
              <a:t>−58,279.57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Iteraciones hasta conv.: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37743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26 iteraciones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0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BIC final: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2880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116,937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¿Mínimo local?: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79" y="3383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AF50"/>
                </a:solidFill>
                <a:latin typeface="Calibri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5577840" cy="256032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5577840" cy="38404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99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</a:rPr>
              <a:t>ALEATORIA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745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Log-Likelihood final: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  <a:latin typeface="Calibri"/>
              </a:rPr>
              <a:t>−59,549.22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774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Iteraciones hasta conv.: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7743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19 iteraciones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880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BIC final: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880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119,520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¿Mínimo local?: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383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  <a:latin typeface="Calibri"/>
              </a:rPr>
              <a:t>SÍ  (LL inferior en +1,270 pts)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11430000" cy="237744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1879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Calibri"/>
              </a:rPr>
              <a:t>¿Qué son los mínimos locales en el EM?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617720"/>
            <a:ext cx="11064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  <a:latin typeface="Calibri"/>
              </a:rPr>
              <a:t>El EM maximiza la log-verosimilitud LOCALMENTE — el punto de partida determina a qué 'valle' llega.
Inicialización aleatoria: convergió en 19 iters pero a LL=−59,549 (mínimo local de baja calidad)
K-means++ tarda 7 iters más pero llega a LL=−58,280 — el 'valle más profundo' disponible
Diferencia de BIC: 116,937 vs 119,520 = 2,583 puntos — solución aleatoria tergiversa pesos
  (Lento-Corto sube artificialmente de 27% a 32% con inicialización aleatoria)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ROL 4 ·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 Recomendaciones Operativas Cuantificadas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512064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02920" cy="5120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4475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Posicionamiento
de Conductores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F1C"/>
                </a:solidFill>
                <a:latin typeface="Calibri"/>
              </a:rPr>
              <a:t>Turno 17h–22h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C3=48.7%  ·  Zonas 33, 42, 41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34640"/>
            <a:ext cx="3063240" cy="1463040"/>
          </a:xfrm>
          <a:prstGeom prst="rect">
            <a:avLst/>
          </a:prstGeom>
          <a:solidFill>
            <a:srgbClr val="1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  <a:latin typeface="Calibri"/>
              </a:rPr>
              <a:t>ACCIÓN: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Las 3 zonas cubren el 88.2% de
la demanda tarde-noche (17-22h)
~3 conductores en simultáneo necesarios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891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  <a:latin typeface="Calibri"/>
              </a:rPr>
              <a:t>I(hora;zona)=1.94% → cruzar
hora + día semana + eventos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371600"/>
            <a:ext cx="3749039" cy="512064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371600"/>
            <a:ext cx="502920" cy="51206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399" y="15544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44475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F1C"/>
                </a:solidFill>
                <a:latin typeface="Calibri"/>
              </a:rPr>
              <a:t>Tarificación
Diferenciada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96596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F1C"/>
                </a:solidFill>
                <a:latin typeface="Calibri"/>
              </a:rPr>
              <a:t>C1 aeropuerto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331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2.2% de viajes  ·  17.95 km / 41.5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2834640"/>
            <a:ext cx="3063240" cy="1463040"/>
          </a:xfrm>
          <a:prstGeom prst="rect">
            <a:avLst/>
          </a:prstGeom>
          <a:solidFill>
            <a:srgbClr val="1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59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  <a:latin typeface="Calibri"/>
              </a:rPr>
              <a:t>ACCIÓN: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59" y="3200400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Multiplicador 2.5x para C1
(7.8x más distancia, 3.9x más tiempo)
+1.25x para 247 viajes ruido DBSCAN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3891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  <a:latin typeface="Calibri"/>
              </a:rPr>
              <a:t>Sin diferenciación: conductor C1
paga 3.9x más tiempo por el mismo
ingreso → incentivo perverso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371600"/>
            <a:ext cx="3749039" cy="512064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371600"/>
            <a:ext cx="502920" cy="51206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5544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144475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Calibri"/>
              </a:rPr>
              <a:t>Modelos Separados
Laboral / Fin de Semana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196596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F1C"/>
                </a:solidFill>
                <a:latin typeface="Calibri"/>
              </a:rPr>
              <a:t>KL = 0.164 bits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331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+3.71% overhead con modelo único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23960" y="2834640"/>
            <a:ext cx="3063240" cy="1463040"/>
          </a:xfrm>
          <a:prstGeom prst="rect">
            <a:avLst/>
          </a:prstGeom>
          <a:solidFill>
            <a:srgbClr val="1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  <a:latin typeface="Calibri"/>
              </a:rPr>
              <a:t>ACCIÓN: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3200400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h=07-09am: 3x más viajes laborales
h=01-03am: 4x más viajes fds
~1,327 despachos sub-óptimos/muestra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43891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D6E0"/>
                </a:solidFill>
                <a:latin typeface="Calibri"/>
              </a:rPr>
              <a:t>23.4% viajes GMM ambiguos se
resuelven con contexto lab/fds
Dos modelos: evita overhead 3.71%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6400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ROL 4 ·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Tabla Ejecutiva — Los 4 roles, los números clave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371600" cy="38404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371600"/>
            <a:ext cx="2286000" cy="38404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3716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Método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371600"/>
            <a:ext cx="2377440" cy="38404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3716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Número clave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371600"/>
            <a:ext cx="2743200" cy="38404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Decisión operativa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1371600" cy="7863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773936"/>
            <a:ext cx="1371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Data Prep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1773936"/>
            <a:ext cx="2286000" cy="786384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10512" y="1773936"/>
            <a:ext cx="22860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Muestreo aleatorio
seed=42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773936"/>
            <a:ext cx="2377440" cy="786384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87952" y="1773936"/>
            <a:ext cx="2377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50K viajes
CV mensual=4.3%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773936"/>
            <a:ext cx="2743200" cy="786384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1773936"/>
            <a:ext cx="27432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Dataset reproducible
cobertura uniforme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96896"/>
            <a:ext cx="1371600" cy="786384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596896"/>
            <a:ext cx="1371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Rol 1
Información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2596896"/>
            <a:ext cx="2286000" cy="786384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10512" y="2596896"/>
            <a:ext cx="22860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Entropía·KL·MI
log-sum-exp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596896"/>
            <a:ext cx="2377440" cy="786384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2596896"/>
            <a:ext cx="2377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I(hora;zona)=0.044b
KL=0.164b (+3.71%)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596896"/>
            <a:ext cx="2743200" cy="786384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2596896"/>
            <a:ext cx="27432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Hora sola insuficiente
Dos modelos horarios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419856"/>
            <a:ext cx="1371600" cy="78638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419856"/>
            <a:ext cx="1371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Rol 2
Clustering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37360" y="3419856"/>
            <a:ext cx="2286000" cy="786384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10512" y="3419856"/>
            <a:ext cx="22860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K-Means K=4
DBSCAN ε=0.10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3419856"/>
            <a:ext cx="2377440" cy="786384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87952" y="3419856"/>
            <a:ext cx="2377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Silhouette=0.2916
247 ruido (1.23%)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419856"/>
            <a:ext cx="2743200" cy="786384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6832" y="3419856"/>
            <a:ext cx="27432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C3=48.7% foco tarde
C1 tarifa 2.5x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242816"/>
            <a:ext cx="1371600" cy="78638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4242816"/>
            <a:ext cx="1371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Rol 3
GMM/EM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7360" y="4242816"/>
            <a:ext cx="2286000" cy="786384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10512" y="4242816"/>
            <a:ext cx="22860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GMM K=4
EM manual 10 iters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4242816"/>
            <a:ext cx="2377440" cy="786384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87952" y="4242816"/>
            <a:ext cx="2377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BIC=116,937
LL: +3,357 pts en 10it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4242816"/>
            <a:ext cx="2743200" cy="786384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6832" y="4242816"/>
            <a:ext cx="27432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4 perfiles latentes
K-means++ evita loc.mín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065776"/>
            <a:ext cx="1371600" cy="786384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5065776"/>
            <a:ext cx="13716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Rol 4
Negocio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7360" y="5065776"/>
            <a:ext cx="2286000" cy="786384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10512" y="5065776"/>
            <a:ext cx="22860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Integración
3 recomendaciones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5065776"/>
            <a:ext cx="2377440" cy="786384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87952" y="5065776"/>
            <a:ext cx="2377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88.2% demand.
~1,327 despachos 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5065776"/>
            <a:ext cx="2743200" cy="786384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56832" y="5065776"/>
            <a:ext cx="27432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  <a:latin typeface="Calibri"/>
              </a:rPr>
              <a:t>Posic. + Tarifa + Modelos
→ sistema de decisión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No es una exploración académica.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9F1C"/>
                </a:solidFill>
                <a:latin typeface="Calibri"/>
              </a:rPr>
              <a:t>Es un sistema de decisión.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D6E0"/>
                </a:solidFill>
                <a:latin typeface="Calibri"/>
              </a:rPr>
              <a:t>50.000 viajes  ·  4 métodos  ·  3 recomendaciones con número
Implementables sin recopilar un solo dato adicional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840480"/>
            <a:ext cx="2926080" cy="164592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F1C"/>
                </a:solidFill>
                <a:latin typeface="Calibri"/>
              </a:rPr>
              <a:t>88.2%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09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  <a:latin typeface="Calibri"/>
              </a:rPr>
              <a:t>demanda cubierta
con 3 zonas (17-22h)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3840480"/>
            <a:ext cx="2926080" cy="164592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9319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F1C"/>
                </a:solidFill>
                <a:latin typeface="Calibri"/>
              </a:rPr>
              <a:t>2.5×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709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  <a:latin typeface="Calibri"/>
              </a:rPr>
              <a:t>tarifa C1 aeropuerto
(7.8× más distancia)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840480"/>
            <a:ext cx="2926080" cy="164592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9319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F1C"/>
                </a:solidFill>
                <a:latin typeface="Calibri"/>
              </a:rPr>
              <a:t>+3.71%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709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  <a:latin typeface="Calibri"/>
              </a:rPr>
              <a:t>overhead evitable
con 2 modelos horarios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  <a:latin typeface="Calibri"/>
              </a:rPr>
              <a:t>ML No Supervisado · Universidad de La Sabana · 2026-II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CD6E0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